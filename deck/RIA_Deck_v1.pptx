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6424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RIA</a:t>
            </a:r>
          </a:p>
          <a:p>
            <a:pPr algn="l">
              <a:spcAft>
                <a:spcPts val="1400"/>
              </a:spcAft>
            </a:pPr>
            <a:r>
              <a:rPr sz="3000" b="0">
                <a:solidFill>
                  <a:srgbClr val="DDEEF4"/>
                </a:solidFill>
                <a:latin typeface="Calibri"/>
              </a:rPr>
              <a:t>Reconfigurable Intelligence Architecture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2E86AB"/>
                </a:solidFill>
                <a:latin typeface="Calibri"/>
              </a:rPr>
              <a:t>One tile. Any model. Compiler-shaped silicon.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DEEF4"/>
                </a:solidFill>
                <a:latin typeface="Calibri"/>
              </a:rPr>
              <a:t>Licensable edge-AI accelerator IP  •  FPGA-proven reference  •  ASIC-ready RTL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FA6BD"/>
                </a:solidFill>
                <a:latin typeface="Calibri"/>
              </a:rPr>
              <a:t>Concept v1  •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Edge AI silicon is stuck between three bad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02736" cy="22860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Fixed-function NPUs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Peak efficiency — on yesterday's models. A CNN accelerator taped out in 2022 cannot serve a transformer workload in 2025. Silicon is frozen; model architectures are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17320"/>
            <a:ext cx="3602736" cy="22860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GPUs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Fully programmable, but the power budget of the edge (mW–single-digit W) rules them out. Utilization on small batch-1 inference is poor.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17320"/>
            <a:ext cx="3602736" cy="22860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FPGAs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Flexible, but every model change means hours of synthesis and place-and-route in third-party tools, and demands hardware expertise most AI teams do not have.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1091672" cy="1051560"/>
          </a:xfrm>
          <a:prstGeom prst="roundRect">
            <a:avLst>
              <a:gd name="adj" fmla="val 12000"/>
            </a:avLst>
          </a:prstGeom>
          <a:solidFill>
            <a:srgbClr val="DDEEF4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442"/>
                </a:solidFill>
                <a:latin typeface="Calibri"/>
              </a:rPr>
              <a:t>Underneath all three: memory bandwidth dominates energy, and utilization collapses the moment the workload drifts from the silicon's design-target model.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6676"/>
                </a:solidFill>
                <a:latin typeface="Calibri"/>
              </a:rPr>
              <a:t>Model architectures turn over every ~18 months. Silicon takes 24+ months to ship. Programmability must live above the silicon.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The gap: a licensable accelerator that stays efficient as models evolve — without re-synthesis, and without a hardware team on the customer 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WHY THIS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We explored both extremes — and rejected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9167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001"/>
                <a:gridCol w="2994751"/>
                <a:gridCol w="4103918"/>
                <a:gridCol w="13310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gives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fails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15 specialized tiles
(heterogeneous NPU)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Each operator gets ideal hardware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Dark silicon: every model idles the tiles it doesn't use; 15x design &amp; verification effort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8541C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Fine-grained fabric
(FPGA-style blocks)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Perfect per-model specialization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Hours of P&amp;R per model in tools we don't own; fine-grained reconfigurability doesn't survive ASIC hardening (eFPGA: 10–20x area/power)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8541C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One programmable tile, replicated
(RIA)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 utilization on every model family; one tile to verify; compiles in seconds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Efficiency gap vs. fixed function must be engineered down — measured, not assumed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C"/>
                          </a:solidFill>
                          <a:latin typeface="Calibri"/>
                        </a:rPr>
                        <a:t>Chosen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442"/>
                </a:solidFill>
                <a:latin typeface="Calibri"/>
              </a:rPr>
              <a:t>The durable middle: hardened, identical tiles whose function is assigned by software.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5B6676"/>
                </a:solidFill>
                <a:latin typeface="Calibri"/>
              </a:rPr>
              <a:t>Reconfiguration is instructions and configuration registers — not rewiring. It survives the FPGA-to-ASIC transition intact.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What is RIA?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RIA is a homogeneous array of programmable compute tiles, a microcoded scheduler, and an MLIR-based compiler that together execute any ML workload on one hardware platform.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5B6676"/>
                </a:solidFill>
                <a:latin typeface="Calibri"/>
              </a:rPr>
              <a:t>The compiler — not the silicon — decides how the hardware is shaped: the tile mix at customer-integration time, and each tile's function at runtime, layer by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602736" cy="20574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One tile, replicated N times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A single verified compute tile is stamped across the die. More performance = more tiles. One design, one verification effort, natural yield redundancy.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3017520"/>
            <a:ext cx="3602736" cy="20574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Personality by instruction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A tile is a matrix engine this layer and a softmax engine the next — selected by microcode, swapped per layer with near-zero overhead. No synthesis. No rewiring.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3017520"/>
            <a:ext cx="3602736" cy="20574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Fabless IP business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FPGA implementation = silicon-proven reference. Product = ASIC-ready RTL + compiler, licensed to SoC companies as configurable 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Positioning: value-edge NPU IP — MCU-class to mid-range edge SoCs.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Build hardware for what all models share — not for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0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Roughly 90% of the compute in every modern model — CNN, transformer, LLM, audio, signal — is multiply-accumulate. The rest is thin vector math.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What varies between models is not the arithmetic — </a:t>
            </a:r>
            <a:r>
              <a:rPr sz="1350">
                <a:solidFill>
                  <a:srgbClr val="5B6676"/>
                </a:solidFill>
                <a:latin typeface="Calibri"/>
              </a:rPr>
              <a:t>it is dataflow, scheduling, and operator mix. Those are software decisions — so RIA puts them in software.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Don't build hardware for models — </a:t>
            </a:r>
            <a:r>
              <a:rPr sz="1350">
                <a:solidFill>
                  <a:srgbClr val="5B6676"/>
                </a:solidFill>
                <a:latin typeface="Calibri"/>
              </a:rPr>
              <a:t>fixed-model accelerators become e-waste on the next architecture shift.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Don't build hardware for 15 operator categories either — </a:t>
            </a:r>
            <a:r>
              <a:rPr sz="1350">
                <a:solidFill>
                  <a:srgbClr val="5B6676"/>
                </a:solidFill>
                <a:latin typeface="Calibri"/>
              </a:rPr>
              <a:t>our own operator-mapping analysis showed 3 units do nearly all the work; the rest is dark silicon.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Build one tile that covers MAC + vector math — </a:t>
            </a:r>
            <a:r>
              <a:rPr sz="1350">
                <a:solidFill>
                  <a:srgbClr val="5B6676"/>
                </a:solidFill>
                <a:latin typeface="Calibri"/>
              </a:rPr>
              <a:t>and make every model-specific decision changeable after tape-out.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743200"/>
            <a:ext cx="4663440" cy="30632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442"/>
                </a:solidFill>
                <a:latin typeface="Calibri"/>
              </a:rPr>
              <a:t>Everything below is a vector program,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2442"/>
                </a:solidFill>
                <a:latin typeface="Calibri"/>
              </a:rPr>
              <a:t>not separate hardware: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Softmax  •  GELU / ReLU / SiLU  •  Sigmoid / Tanh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LayerNorm / RMSNorm / BatchNorm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Pooling  •  Reductions (sum / mean / max)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Quantize / Dequantize  •  Elementwise ops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442"/>
                </a:solidFill>
                <a:latin typeface="Calibri"/>
              </a:rPr>
              <a:t>And everything below is the same MAC array,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2442"/>
                </a:solidFill>
                <a:latin typeface="Calibri"/>
              </a:rPr>
              <a:t>fed in a different order: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GEMM  •  Conv (1D/2D/depthwise)  •  Attention QKᵀ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The RIA tile — one microarchitecture, every personality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49824" cy="1965960"/>
          </a:xfrm>
          <a:prstGeom prst="roundRect">
            <a:avLst>
              <a:gd name="adj" fmla="val 5500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MAC array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Dense multiply-accumulate grid. Executes GEMM, convolution, and attention score computation — the same multipliers; microcode selects the data-feeding order (dataflow mode).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5449824" cy="1965960"/>
          </a:xfrm>
          <a:prstGeom prst="roundRect">
            <a:avLst>
              <a:gd name="adj" fmla="val 5500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Vector unit + SFU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Vector lanes with special-function units (exp, reciprocal, rsqrt). Runs softmax, GELU/ReLU, LayerNorm/RMSNorm, pooling, reductions, quantize/dequantize — as programs.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5449824" cy="196596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Local SRAM (double-buffered)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Holds weights, activations, and microcode. The next layer's weights and program load while the current layer computes — reconfiguration overhead target: &lt; 1% of runtime.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611880"/>
            <a:ext cx="5449824" cy="196596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Programmable sequencer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Runs the microcode that gives the tile its current personality, and coordinates MAC array, vector unit, and SRAM without host intervention.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8000"/>
            </a:avLst>
          </a:prstGeom>
          <a:solidFill>
            <a:srgbClr val="0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tile is a softmax tile this layer and a matrix tile the next — by instruction, not rewiring.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371600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0F2442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&amp; Scheduler Subsystem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instruction fetch  •  dependency manager  •  tile configurator  •  performance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554480" cy="27432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External
Memory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DDR/LPDDR
DMA engine
prefetch +
write-back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2377440"/>
            <a:ext cx="1554480" cy="27432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Host I/F +
Config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AXI interface
config &amp; status
power mgmt
debug / trace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212848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212848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212848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2212848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383280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3383280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383280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3383280"/>
            <a:ext cx="1773936" cy="1005840"/>
          </a:xfrm>
          <a:prstGeom prst="roundRect">
            <a:avLst>
              <a:gd name="adj" fmla="val 8181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F2442"/>
                </a:solidFill>
                <a:latin typeface="Calibri"/>
              </a:rPr>
              <a:t>RIA Tile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MAC • vector
SRAM • sequencer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43984"/>
            <a:ext cx="7589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…identical tiles, replicated to the customer's performance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754880"/>
            <a:ext cx="7589520" cy="502920"/>
          </a:xfrm>
          <a:prstGeom prst="roundRect">
            <a:avLst>
              <a:gd name="adj" fmla="val 16363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Shared Scratchpad  (weights • activations • intermediates)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394960"/>
            <a:ext cx="7589520" cy="457200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NoC / Crossbar Interconnect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Dataflow strategy (weight- vs. output-stationary) is chosen per layer by the compiler to minimize external memory traffic — the dominant energy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KEY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The compiler shapes the hardware — twice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49824" cy="35661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LEVEL 1 — DESIGN TIME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2442"/>
                </a:solidFill>
                <a:latin typeface="Calibri"/>
              </a:rPr>
              <a:t>Per customer, at IP integration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The compiler profiles the customer's model family and emits the IP configuration: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•  tile count and MAC array dimensions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•  vector width and SFU set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•  SRAM sizing and NoC topology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A vision customer gets a MAC-heavy build; an audio/LLM customer a different ratio. Hardware requirements are derived from the model — not guessed.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5449824" cy="35661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LEVEL 2 — RUNTIME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2442"/>
                </a:solidFill>
                <a:latin typeface="Calibri"/>
              </a:rPr>
              <a:t>Per model, per layer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ONNX graph in → microcode + scheduler instruction stream out: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•  compiles in seconds — no synthesis, no P&amp;R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•  tiles switch personality layer-by-layer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•  identical flow on FPGA prototype and ASIC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Ship a new model to silicon already in the field with a software update.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4000"/>
            </a:avLst>
          </a:prstGeom>
          <a:solidFill>
            <a:srgbClr val="DDEEF4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2442"/>
                </a:solidFill>
                <a:latin typeface="Calibri"/>
              </a:rPr>
              <a:t>This two-level scheme captures most of the efficiency of per-model hardware while keeping a seconds-long compile loop and a clean ASIC path — the property neither a fixed NPU nor an FPGA flow can offer.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SOFTWARE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The compiler is the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627632" cy="1143000"/>
          </a:xfrm>
          <a:prstGeom prst="roundRect">
            <a:avLst>
              <a:gd name="adj" fmla="val 7199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ONNX ingest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PyTorch / TF /
JAX via ONNX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85416" y="2052828"/>
            <a:ext cx="246888" cy="146304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1448" y="1554480"/>
            <a:ext cx="1627632" cy="1143000"/>
          </a:xfrm>
          <a:prstGeom prst="roundRect">
            <a:avLst>
              <a:gd name="adj" fmla="val 7199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Operator
lowering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graph ops →
tile primitives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8224" y="2052828"/>
            <a:ext cx="246888" cy="146304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1554480"/>
            <a:ext cx="1627632" cy="1143000"/>
          </a:xfrm>
          <a:prstGeom prst="roundRect">
            <a:avLst>
              <a:gd name="adj" fmla="val 7199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Spatial
partitioning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which tiles run
which operator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1032" y="2052828"/>
            <a:ext cx="246888" cy="146304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554480"/>
            <a:ext cx="1627632" cy="1143000"/>
          </a:xfrm>
          <a:prstGeom prst="roundRect">
            <a:avLst>
              <a:gd name="adj" fmla="val 7199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Temporal
scheduling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when personalities
switch, per layer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2052828"/>
            <a:ext cx="246888" cy="146304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9872" y="1554480"/>
            <a:ext cx="1627632" cy="1143000"/>
          </a:xfrm>
          <a:prstGeom prst="roundRect">
            <a:avLst>
              <a:gd name="adj" fmla="val 7199"/>
            </a:avLst>
          </a:prstGeom>
          <a:solidFill>
            <a:srgbClr val="DDEEF4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Memory
planning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scratchpad alloc,
prefetch, dataflow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56648" y="2052828"/>
            <a:ext cx="246888" cy="146304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12680" y="1554480"/>
            <a:ext cx="1627632" cy="1143000"/>
          </a:xfrm>
          <a:prstGeom prst="roundRect">
            <a:avLst>
              <a:gd name="adj" fmla="val 7199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442"/>
                </a:solidFill>
                <a:latin typeface="Calibri"/>
              </a:rPr>
              <a:t>Microcode
emission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tile programs +
scheduler 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Highlighted stages are the hard, differentiating middle — a mini place-and-route problem solved in software, in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Built on MLIR — </a:t>
            </a:r>
            <a:r>
              <a:rPr sz="1350">
                <a:solidFill>
                  <a:srgbClr val="5B6676"/>
                </a:solidFill>
                <a:latin typeface="Calibri"/>
              </a:rPr>
              <a:t>we stand on LLVM-community infrastructure instead of hand-rolling a compiler from scratch — lower risk, faster operator coverage.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Why software-heavy is deliberate — </a:t>
            </a:r>
            <a:r>
              <a:rPr sz="1350">
                <a:solidFill>
                  <a:srgbClr val="5B6676"/>
                </a:solidFill>
                <a:latin typeface="Calibri"/>
              </a:rPr>
              <a:t>a compiler keeps improving after tape-out; silicon doesn't. Every scheduling win ships to all deployed chips.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Where the moat is — </a:t>
            </a:r>
            <a:r>
              <a:rPr sz="1350">
                <a:solidFill>
                  <a:srgbClr val="5B6676"/>
                </a:solidFill>
                <a:latin typeface="Calibri"/>
              </a:rPr>
              <a:t>history is unambiguous — AI hardware ventures fail on software, not RTL. We budget the majority of engineering here, and say so.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Operator coverage plan — </a:t>
            </a:r>
            <a:r>
              <a:rPr sz="1350">
                <a:solidFill>
                  <a:srgbClr val="5B6676"/>
                </a:solidFill>
                <a:latin typeface="Calibri"/>
              </a:rPr>
              <a:t>MAC + vector primitives cover the ONNX core opset; long-tail ops fall back to the host CPU until profiled as worth accelerating.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How model families map onto the same silicon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91671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001"/>
                <a:gridCol w="3549335"/>
                <a:gridCol w="2218334"/>
                <a:gridCol w="2662001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family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Dominant tile personalities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Approx. compute mix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CNNs  (MobileNet, ResNet)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Conv-mode MAC + vector (pool, norm, activation)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~85% MAC / 15% vector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conv = MAC array in conv dataflow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Transformers  (BERT, ViT)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GEMM-mode MAC + vector (softmax, LayerNorm, GELU)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~75% MAC / 25% vector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attention = GEMM + vector softmax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LLMs  (Llama-class, decode)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GEMM-mode MAC + vector; bandwidth-bound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~70% MAC / 30% vector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prefetch + quantization critical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Audio  (Whisper, KWS)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Conv + GEMM modes + vector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~80% MAC / 20% vector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FFT frontend runs as vector program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2442"/>
                          </a:solidFill>
                          <a:latin typeface="Calibri"/>
                        </a:rPr>
                        <a:t>Signal / Health  (ECG, radar)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Conv-mode MAC + vector reductions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~85% MAC / 15% vector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small models — few tiles, low power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DDEEF4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442"/>
                </a:solidFill>
                <a:latin typeface="Calibri"/>
              </a:rPr>
              <a:t>Every row uses the same two hardware resources — MAC array and vector unit — in different proportions over time.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6676"/>
                </a:solidFill>
                <a:latin typeface="Calibri"/>
              </a:rPr>
              <a:t>Because any tile can serve either role, utilization stays high across all families. No family leaves silicon dark.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PROOF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The flagship demo — the thesis in one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0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MobileNetV2 and a small transformer, both compiled from ONNX, both running on the same FPGA bitstream — zero RTL changes between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&gt; 70%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tile utilization held on both model families (fixed-function baseline: high on one, collapses on the other)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83464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&lt; 1%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reconfiguration overhead — personality swaps hidden under double-buffered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83464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seconds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model-to-microcode compile time, versus hours for per-model FPGA synthesis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283464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86AB"/>
                </a:solidFill>
                <a:latin typeface="Calibri"/>
              </a:rPr>
              <a:t>inf/s/W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reported against a fixed-function baseline and a CPU/GPU reference on the same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E86AB"/>
                </a:solidFill>
                <a:latin typeface="Calibri"/>
              </a:rPr>
              <a:t>▪  </a:t>
            </a:r>
            <a:r>
              <a:rPr sz="1300" b="1">
                <a:solidFill>
                  <a:srgbClr val="1F2937"/>
                </a:solidFill>
                <a:latin typeface="Calibri"/>
              </a:rPr>
              <a:t>Utilization across model families is the headline number — </a:t>
            </a:r>
            <a:r>
              <a:rPr sz="1300">
                <a:solidFill>
                  <a:srgbClr val="5B6676"/>
                </a:solidFill>
                <a:latin typeface="Calibri"/>
              </a:rPr>
              <a:t>it is the one claim fixed-function NPUs cannot match and FPGA flows cannot match at our compile speed.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E86AB"/>
                </a:solidFill>
                <a:latin typeface="Calibri"/>
              </a:rPr>
              <a:t>▪  </a:t>
            </a:r>
            <a:r>
              <a:rPr sz="1300" b="1">
                <a:solidFill>
                  <a:srgbClr val="1F2937"/>
                </a:solidFill>
                <a:latin typeface="Calibri"/>
              </a:rPr>
              <a:t>Everything is measured, nothing asserted — </a:t>
            </a:r>
            <a:r>
              <a:rPr sz="1300">
                <a:solidFill>
                  <a:srgbClr val="5B6676"/>
                </a:solidFill>
                <a:latin typeface="Calibri"/>
              </a:rPr>
              <a:t>the same report doubles as the evaluation section of a publication and the benchmark annex of a licensing data 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Competitive landscape — the honest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91671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668"/>
                <a:gridCol w="3327501"/>
                <a:gridCol w="4658502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they ship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RIA's differentiation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ARM Ethos-U/N, Ceva NeuPro,
Synopsys ARC NPX, Cadence Tensilica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Incumbent licensable NPU IP; configurable at design time only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Compiler-derived configuration + runtime personality switching: same silicon tracks model evolution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AMD Versal AI Engines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Shipping adaptive-tile silicon (buy a chip)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RIA is licensable IP for customers' own SoCs, at edge-class power/cost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Tenstorrent, SambaNova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Identical-programmable-tile architectures at datacenter scale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Validation that the principle works; RIA claims the edge-IP niche they don't serve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FINN / hls4ml flows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Per-model FPGA generation for small frozen models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RIA compiles in seconds, needs no P&amp;R, and has an ASIC path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12000"/>
            </a:avLst>
          </a:prstGeom>
          <a:solidFill>
            <a:srgbClr val="DDEEF4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F2442"/>
                </a:solidFill>
                <a:latin typeface="Calibri"/>
              </a:rPr>
              <a:t>The Indian RISC-V SoC ecosystem (Mindgrove, InCore, and peers) is our customer base, not our competition —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6676"/>
                </a:solidFill>
                <a:latin typeface="Calibri"/>
              </a:rPr>
              <a:t>they need exactly this block, and the India Semiconductor Mission / DLI scheme is the tailwind for domestic 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Business model — fabless IP licensing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602736" cy="22860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The product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ASIC-ready RTL of the tile + fabric, delivered as configurable IP, plus the compiler/runtime stack. The FPGA build is the silicon-proven reference and each customer's design-space exploration vehicle.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63040"/>
            <a:ext cx="3602736" cy="22860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Revenue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A portfolio, not a single stream: product revenue from year 1 (FPGA modules, services), licensing engine compounding from year 3 — detailed on the next two slides.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602736" cy="2286000"/>
          </a:xfrm>
          <a:prstGeom prst="roundRect">
            <a:avLst>
              <a:gd name="adj" fmla="val 5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442"/>
                </a:solidFill>
                <a:latin typeface="Calibri"/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B6676"/>
                </a:solidFill>
                <a:latin typeface="Calibri"/>
              </a:rPr>
              <a:t>Value-edge SoCs: smart cameras, wearables, hearables, industrial sensing, automotive sub-systems, health devices — below Tenstorrent's market, above frozen-model FPGA 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Capital-efficient by construction — </a:t>
            </a:r>
            <a:r>
              <a:rPr sz="1350">
                <a:solidFill>
                  <a:srgbClr val="5B6676"/>
                </a:solidFill>
                <a:latin typeface="Calibri"/>
              </a:rPr>
              <a:t>no tape-out on our books; customers carry silicon cost. FPGA proof is achievable on a startup budget.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The compiler subscription compounds — </a:t>
            </a:r>
            <a:r>
              <a:rPr sz="1350">
                <a:solidFill>
                  <a:srgbClr val="5B6676"/>
                </a:solidFill>
                <a:latin typeface="Calibri"/>
              </a:rPr>
              <a:t>scheduling improvements ship to every licensee — recurring revenue tied to real, measurable gains.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>
                <a:solidFill>
                  <a:srgbClr val="1F2937"/>
                </a:solidFill>
                <a:latin typeface="Calibri"/>
              </a:rPr>
              <a:t>Ecosystem tailwind — </a:t>
            </a:r>
            <a:r>
              <a:rPr sz="1350">
                <a:solidFill>
                  <a:srgbClr val="5B6676"/>
                </a:solidFill>
                <a:latin typeface="Calibri"/>
              </a:rPr>
              <a:t>India Semiconductor Mission and the DLI scheme actively fund domestic IP; domestic SoC startups need an NPU block they can license without ARM-scale fees.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Revenue is a portfolio — eight streams, one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9167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167"/>
                <a:gridCol w="4880335"/>
                <a:gridCol w="1109167"/>
                <a:gridCol w="2662001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Starts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Character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FPGA edge modules &amp; dev kits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M.2 / PCIe / SoM accelerator cards for frozen-model verticals (medical, industrial, radar) — sold before any ASIC exists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Early product cash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Model porting services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Paid optimization of customer models onto RIA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Services — capped by policy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Non-dilutive funding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DLI / India Semiconductor Mission grants, funded R&amp;D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Cash without equity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Integration NRE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Customer-specific tile-mix configuration + integration support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Per engagement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Compiler &amp; tools subscription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Annual license; scheduling gains ship to every licensee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Recurring — the gem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IP license fees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Upfront fee per design win for tile/fabric RTL + compiler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2–3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Lumpy, one-time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Per-unit royalties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Fee on every customer SoC shipped with RIA inside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3–4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Compounding, high margin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2"/>
                          </a:solidFill>
                          <a:latin typeface="Calibri"/>
                        </a:rPr>
                        <a:t>Hardened chiplet (future)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RIA as a UCIe chiplet SoC vendors drop in — a tier above RTL licensing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Year 4+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Optional expansion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86AB"/>
                </a:solidFill>
                <a:latin typeface="Calibri"/>
              </a:rPr>
              <a:t>Every early stream doubles as pipeline: dev-kit buyers and porting clients are tomorrow's licensees.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Revenue phasing — and the discipline it demands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602736" cy="26517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YEARS 0–1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Survive &amp; build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Grants and funded R&amp;D cover the runway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Dev kits + porting services bring first paying users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Every engagement stress-tests the compiler on real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602736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02736" cy="26517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YEARS 1–3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Product revenue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FPGA modules ship into frozen-model verticals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First evaluation licenses + integration NRE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Compiler subscriptions begin with early licensees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02736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602736" cy="26517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YEARS 3+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The engine compounds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Royalties ramp as customer SoCs reach production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Subscriptions renew on measurable scheduling gains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•  Optional chiplet tier opens higher-margin deals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602736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2E86AB"/>
                </a:solidFill>
                <a:latin typeface="Calibri"/>
              </a:rPr>
              <a:t>▪  </a:t>
            </a:r>
            <a:r>
              <a:rPr sz="1300" b="1">
                <a:solidFill>
                  <a:srgbClr val="1F2937"/>
                </a:solidFill>
                <a:latin typeface="Calibri"/>
              </a:rPr>
              <a:t>Royalty lag is real — </a:t>
            </a:r>
            <a:r>
              <a:rPr sz="1300">
                <a:solidFill>
                  <a:srgbClr val="5B6676"/>
                </a:solidFill>
                <a:latin typeface="Calibri"/>
              </a:rPr>
              <a:t>design win to tape-out to production ramp takes 3–4 years — the early streams exist to bridge exactly that gap, and we say so.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E86AB"/>
                </a:solidFill>
                <a:latin typeface="Calibri"/>
              </a:rPr>
              <a:t>▪  </a:t>
            </a:r>
            <a:r>
              <a:rPr sz="1300" b="1">
                <a:solidFill>
                  <a:srgbClr val="1F2937"/>
                </a:solidFill>
                <a:latin typeface="Calibri"/>
              </a:rPr>
              <a:t>Services are a bridge, not the business — </a:t>
            </a:r>
            <a:r>
              <a:rPr sz="1300">
                <a:solidFill>
                  <a:srgbClr val="5B6676"/>
                </a:solidFill>
                <a:latin typeface="Calibri"/>
              </a:rPr>
              <a:t>capped at a fixed share of revenue and headcount, or they quietly consume the product roadmap.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E86AB"/>
                </a:solidFill>
                <a:latin typeface="Calibri"/>
              </a:rPr>
              <a:t>▪  </a:t>
            </a:r>
            <a:r>
              <a:rPr sz="1300" b="1">
                <a:solidFill>
                  <a:srgbClr val="1F2937"/>
                </a:solidFill>
                <a:latin typeface="Calibri"/>
              </a:rPr>
              <a:t>One product underneath all eight streams — </a:t>
            </a:r>
            <a:r>
              <a:rPr sz="1300">
                <a:solidFill>
                  <a:srgbClr val="5B6676"/>
                </a:solidFill>
                <a:latin typeface="Calibri"/>
              </a:rPr>
              <a:t>modules, services, licenses, and royalties all monetize the same tile + compiler — no stream forks the engineering.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Roadmap — milestones, not checkmarks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79192" cy="32918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E86AB"/>
                </a:solidFill>
                <a:latin typeface="Calibri"/>
              </a:rPr>
              <a:t>Phase 1  •  months 0–6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Foundations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Tile RTL + ISA specification frozen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Single-tile FPGA validation (GEMM, conv, vector ops)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Compiler MVP: ONNX → microcode for core opset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79192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5848" y="1554480"/>
            <a:ext cx="2679192" cy="32918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E86AB"/>
                </a:solidFill>
                <a:latin typeface="Calibri"/>
              </a:rPr>
              <a:t>Phase 2  •  months 6–12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Fabric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Multi-tile array + NoC + scheduler subsystem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MobileNetV2 end-to-end on FPGA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First utilization + power measurements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554480"/>
            <a:ext cx="2679192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554480"/>
            <a:ext cx="2679192" cy="32918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E86AB"/>
                </a:solidFill>
                <a:latin typeface="Calibri"/>
              </a:rPr>
              <a:t>Phase 3  •  months 12–18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Proof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Transformer support in compiler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Flagship demo: two model families, one bitstream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Publication + benchmark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554480"/>
            <a:ext cx="2679192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70264" y="1554480"/>
            <a:ext cx="2679192" cy="329184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2700">
            <a:solidFill>
              <a:srgbClr val="D4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E86AB"/>
                </a:solidFill>
                <a:latin typeface="Calibri"/>
              </a:rPr>
              <a:t>Phase 4  •  months 18–24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2442"/>
                </a:solidFill>
                <a:latin typeface="Calibri"/>
              </a:rPr>
              <a:t>Product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ASIC hardening + PPA characterization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Design-time configurator (tile-mix tool)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B6676"/>
                </a:solidFill>
                <a:latin typeface="Calibri"/>
              </a:rPr>
              <a:t>•  First evaluation licenses 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1554480"/>
            <a:ext cx="2679192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2442"/>
                </a:solidFill>
                <a:latin typeface="Calibri"/>
              </a:rPr>
              <a:t>Exit criterion for each phase is a measured number on hardware — not a document.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2442"/>
                </a:solidFill>
                <a:latin typeface="Calibri"/>
              </a:rPr>
              <a:t>Risks — stated, owned, and instrumented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71600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RIA — Reconfigurable Intelligence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9167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3993001"/>
                <a:gridCol w="4880335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Reality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 &amp; metric</a:t>
                      </a:r>
                    </a:p>
                  </a:txBody>
                  <a:tcPr marL="73152" marR="54864" marT="27432" marB="27432" anchor="ctr">
                    <a:solidFill>
                      <a:srgbClr val="0F244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Efficiency gap vs.
fixed-function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Programmability always costs silicon; the gap must be measured, never assumed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Target: within 2–3x of a fixed NPU per-op while holding &gt;70% utilization across model families — net wins on real workloads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Compiler execution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The schedule risk lives in software, not RTL — this is where AI hardware ventures die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MLIR base, majority of engineering budget, compiler milestones gate every phase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Memory bandwidth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Dominates edge energy; a scratchpad alone is not an answer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Per-layer dataflow selection, prefetch/double-buffering; DRAM traffic per inference reported in every benchmark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442"/>
                          </a:solidFill>
                          <a:latin typeface="Calibri"/>
                        </a:rPr>
                        <a:t>Incumbent IP vendors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ARM/Ceva/Synopsys have distribution and trust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Win on configuration agility, model-evolution insurance, cost, and domestic-ecosystem access — not on raw TOPS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86AB"/>
                </a:solidFill>
                <a:latin typeface="Calibri"/>
              </a:rPr>
              <a:t>We publish these numbers whether they flatter us or not — credibility is the asset an IP vendor sells.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86AB"/>
                </a:solidFill>
                <a:latin typeface="Calibri"/>
              </a:rPr>
              <a:t>HOW WE GOT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926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DDEEF4"/>
                </a:solidFill>
                <a:latin typeface="Calibri"/>
              </a:rPr>
              <a:t>v0 proposed 15 specialized tiles — honest about primitives, but really an NPU with 15 fixed accelerators: dark silicon for every model that skipped one.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DEEF4"/>
                </a:solidFill>
                <a:latin typeface="Calibri"/>
              </a:rPr>
              <a:t>A fully FPGA-like fabric fixes utilization but costs hours-long compiles and loses the ASIC path.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RIA v1 is the durable middle: one hardened programmable tile, replicated — the compiler shapes the array at integration time and reprograms it per layer at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One architecture. Every model. Any customer.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E86AB"/>
                </a:solidFill>
                <a:latin typeface="Calibri"/>
              </a:rPr>
              <a:t>High utilization on every model family  •  seconds to compile  •  a clean FPGA-to-ASIC-IP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A6BD"/>
                </a:solidFill>
                <a:latin typeface="Calibri"/>
              </a:rPr>
              <a:t>RIA — Reconfigurable Intelligence Architecture  •  Concept v1  •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